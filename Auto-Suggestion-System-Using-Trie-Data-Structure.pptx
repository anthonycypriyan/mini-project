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Overpass Thin"/>
      <p:regular r:id="rId201314"/>
    </p:embeddedFont>
    <p:embeddedFont>
      <p:font typeface="Overpass ExtraLight"/>
      <p:regular r:id="rId201315"/>
    </p:embeddedFont>
    <p:embeddedFont>
      <p:font typeface="Overpass Light"/>
      <p:regular r:id="rId201316"/>
    </p:embeddedFont>
    <p:embeddedFont>
      <p:font typeface="Overpass"/>
      <p:regular r:id="rId201317"/>
    </p:embeddedFont>
    <p:embeddedFont>
      <p:font typeface="Overpass Medium"/>
      <p:regular r:id="rId201318"/>
    </p:embeddedFont>
    <p:embeddedFont>
      <p:font typeface="Overpass SemiBold"/>
      <p:regular r:id="rId201319"/>
    </p:embeddedFont>
    <p:embeddedFont>
      <p:font typeface="Overpass Bold"/>
      <p:regular r:id="rId201320"/>
    </p:embeddedFont>
    <p:embeddedFont>
      <p:font typeface="Overpass Black"/>
      <p:regular r:id="rId201321"/>
    </p:embeddedFont>
    <p:embeddedFont>
      <p:font typeface="Overpass ExtraBold"/>
      <p:regular r:id="rId201322"/>
    </p:embeddedFont>
    <p:embeddedFont>
      <p:font typeface="Syne"/>
      <p:regular r:id="rId201323"/>
    </p:embeddedFont>
    <p:embeddedFont>
      <p:font typeface="Syne Medium"/>
      <p:regular r:id="rId201324"/>
    </p:embeddedFont>
    <p:embeddedFont>
      <p:font typeface="Syne SemiBold"/>
      <p:regular r:id="rId201325"/>
    </p:embeddedFont>
    <p:embeddedFont>
      <p:font typeface="Syne Bold"/>
      <p:regular r:id="rId201326"/>
    </p:embeddedFont>
    <p:embeddedFont>
      <p:font typeface="Syne ExtraBold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4B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E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383878"/>
            <a:ext cx="3745781" cy="233214"/>
          </a:xfrm>
          <a:prstGeom prst="roundRect">
            <a:avLst>
              <a:gd name="adj" fmla="val 17872"/>
            </a:avLst>
          </a:prstGeom>
          <a:solidFill>
            <a:srgbClr val="DDEEE6"/>
          </a:solidFill>
          <a:ln/>
        </p:spPr>
      </p:sp>
      <p:sp>
        <p:nvSpPr>
          <p:cNvPr id="4" name="Text 1"/>
          <p:cNvSpPr/>
          <p:nvPr/>
        </p:nvSpPr>
        <p:spPr>
          <a:xfrm>
            <a:off x="3999533" y="1421085"/>
            <a:ext cx="4054153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MINI PROJECT · COMPUTER SCIENCE &amp; ENGINEERING:DATA SCIENCE· 2023–2027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166665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i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Auto Suggestion System Using Trie Data Structure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25119" y="2627784"/>
            <a:ext cx="4722763" cy="1131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This mini project presents an intelligent auto-suggestion engine built on the Trie (Prefix Tree) data structure. It delivers real-time word completions as users type, dramatically reducing keystrokes and improving search efficiency across large datasets.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Team Members: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S. Yogasaikumar · M. Chethan Kumar Reddy · A. Cypriyan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6378"/>
            <a:ext cx="732122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Statement &amp; Project 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6822" y="1239962"/>
            <a:ext cx="4103191" cy="3237161"/>
          </a:xfrm>
          <a:prstGeom prst="roundRect">
            <a:avLst>
              <a:gd name="adj" fmla="val 2759"/>
            </a:avLst>
          </a:prstGeom>
          <a:solidFill>
            <a:srgbClr val="224435"/>
          </a:solidFill>
          <a:ln/>
        </p:spPr>
      </p:sp>
      <p:sp>
        <p:nvSpPr>
          <p:cNvPr id="4" name="Text 2"/>
          <p:cNvSpPr/>
          <p:nvPr/>
        </p:nvSpPr>
        <p:spPr>
          <a:xfrm>
            <a:off x="530796" y="136393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0796" y="1681758"/>
            <a:ext cx="3855244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Traditional linear search methods scale poorly with large datasets, causing noticeable delays as data grows. Users today expect instant, context-aware suggestions while typing — a demand that brute-force string matching simply cannot meet. In high-traffic systems, this latency directly impacts user experience and system performance.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796" y="2785690"/>
            <a:ext cx="385524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Slow prefix matching in large dictionaries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No intelligent prediction during typing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High computational cost per keystroke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Poor scalability with millions of words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1363935"/>
            <a:ext cx="201409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Objectives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4555" y="1701105"/>
            <a:ext cx="186035" cy="1860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31073" y="1697310"/>
            <a:ext cx="190366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Efficient Prefix Search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31073" y="2015133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Implement a Trie-based structure that retrieves all words sharing a given prefix in O(k) time, where k is the prefix length.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4555" y="2663875"/>
            <a:ext cx="186035" cy="1860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31073" y="2660079"/>
            <a:ext cx="195165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Real-Time Suggestions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131073" y="2977902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Generate and display word completions dynamically as the user types, with zero perceptible delay.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4555" y="3626644"/>
            <a:ext cx="186035" cy="1860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31073" y="3622849"/>
            <a:ext cx="18389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Scalable Architecture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131073" y="3940671"/>
            <a:ext cx="3521571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Design a system capable of handling large word corpora without performance degradation.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405645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Methodology: Trie Data Structure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96119" y="596950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Trie (pronounced "try"), also known as a Prefix Tree, is a tree-like data structure where each node represents a single character. Words sharing common prefixes share the same path from the root, enabling extremely fast prefix-based retrieval.</a:t>
            </a:r>
            <a:endParaRPr lang="en-US" sz="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07" y="706115"/>
            <a:ext cx="6339185" cy="29012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6361" y="291841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Suggest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56456" y="2918414"/>
            <a:ext cx="11901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Search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64702" y="291841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Mark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40341" y="2918414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Insert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3642196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diagram above illustrates the complete lifecycle of the auto-suggestion system — from word insertion through prefix traversal to final suggestion generation.</a:t>
            </a:r>
            <a:endParaRPr lang="en-US" sz="450" dirty="0"/>
          </a:p>
        </p:txBody>
      </p:sp>
      <p:sp>
        <p:nvSpPr>
          <p:cNvPr id="10" name="Text 7"/>
          <p:cNvSpPr/>
          <p:nvPr/>
        </p:nvSpPr>
        <p:spPr>
          <a:xfrm>
            <a:off x="496119" y="3782318"/>
            <a:ext cx="1786458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Trie Structure — Visual Example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96119" y="3910161"/>
            <a:ext cx="445747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For the words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"app"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"apple"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and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"application"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, the Trie shares the common prefix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3B4E4E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"app"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in a single path, then branches out:</a:t>
            </a:r>
            <a:endParaRPr lang="en-US" sz="450" dirty="0"/>
          </a:p>
        </p:txBody>
      </p:sp>
      <p:sp>
        <p:nvSpPr>
          <p:cNvPr id="12" name="Shape 9"/>
          <p:cNvSpPr/>
          <p:nvPr/>
        </p:nvSpPr>
        <p:spPr>
          <a:xfrm>
            <a:off x="496119" y="4019327"/>
            <a:ext cx="4000277" cy="1908125"/>
          </a:xfrm>
          <a:prstGeom prst="roundRect">
            <a:avLst>
              <a:gd name="adj" fmla="val 1365"/>
            </a:avLst>
          </a:prstGeom>
          <a:solidFill>
            <a:srgbClr val="F2F0D9"/>
          </a:solidFill>
          <a:ln/>
        </p:spPr>
      </p:sp>
      <p:sp>
        <p:nvSpPr>
          <p:cNvPr id="13" name="Shape 10"/>
          <p:cNvSpPr/>
          <p:nvPr/>
        </p:nvSpPr>
        <p:spPr>
          <a:xfrm>
            <a:off x="493068" y="4019327"/>
            <a:ext cx="4006379" cy="1908125"/>
          </a:xfrm>
          <a:prstGeom prst="roundRect">
            <a:avLst>
              <a:gd name="adj" fmla="val 488"/>
            </a:avLst>
          </a:prstGeom>
          <a:solidFill>
            <a:srgbClr val="F2F0D9"/>
          </a:solidFill>
          <a:ln/>
        </p:spPr>
      </p:sp>
      <p:sp>
        <p:nvSpPr>
          <p:cNvPr id="14" name="Text 11"/>
          <p:cNvSpPr/>
          <p:nvPr/>
        </p:nvSpPr>
        <p:spPr>
          <a:xfrm>
            <a:off x="570533" y="4081314"/>
            <a:ext cx="3851449" cy="1784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Consolas Light" pitchFamily="34" charset="0"/>
                <a:ea typeface="Consolas Light" pitchFamily="34" charset="-122"/>
                <a:cs typeface="Consolas Light" pitchFamily="34" charset="-120"/>
              </a:rPr>
              <a:t>      (root)
        |
        a
        |
        p
        |
        p  ← "app" (end-of-word)
       / \
      l   l
      |   |
      e   i
      |   |
    apple c
          |
          a
          |
          t
          |
          i
          |
          o
          |
          n → "application"
</a:t>
            </a:r>
            <a:endParaRPr lang="en-US" sz="450" dirty="0"/>
          </a:p>
        </p:txBody>
      </p:sp>
      <p:sp>
        <p:nvSpPr>
          <p:cNvPr id="15" name="Text 12"/>
          <p:cNvSpPr/>
          <p:nvPr/>
        </p:nvSpPr>
        <p:spPr>
          <a:xfrm>
            <a:off x="4652367" y="3782318"/>
            <a:ext cx="12324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Core Operations</a:t>
            </a:r>
            <a:endParaRPr lang="en-US" sz="6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2367" y="3914031"/>
            <a:ext cx="4000277" cy="34520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61979" y="3985543"/>
            <a:ext cx="7752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Insert(word)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4761979" y="4113386"/>
            <a:ext cx="381915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Traverse character by character; create new nodes only when a path does not exist. Mark the final node as end-of-word.</a:t>
            </a:r>
            <a:endParaRPr lang="en-US" sz="4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52367" y="4290194"/>
            <a:ext cx="4000277" cy="34520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61979" y="4361706"/>
            <a:ext cx="7752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Search(prefix)</a:t>
            </a:r>
            <a:endParaRPr lang="en-US" sz="600" dirty="0"/>
          </a:p>
        </p:txBody>
      </p:sp>
      <p:sp>
        <p:nvSpPr>
          <p:cNvPr id="21" name="Text 16"/>
          <p:cNvSpPr/>
          <p:nvPr/>
        </p:nvSpPr>
        <p:spPr>
          <a:xfrm>
            <a:off x="4761979" y="4489549"/>
            <a:ext cx="381915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Navigate the Trie using prefix characters. If the path exists, perform DFS from that node to collect all suggestions.</a:t>
            </a:r>
            <a:endParaRPr lang="en-US" sz="4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52367" y="4666357"/>
            <a:ext cx="4000277" cy="34520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61979" y="4737869"/>
            <a:ext cx="7752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Suggest(prefix)</a:t>
            </a:r>
            <a:endParaRPr lang="en-US" sz="600" dirty="0"/>
          </a:p>
        </p:txBody>
      </p:sp>
      <p:sp>
        <p:nvSpPr>
          <p:cNvPr id="24" name="Text 18"/>
          <p:cNvSpPr/>
          <p:nvPr/>
        </p:nvSpPr>
        <p:spPr>
          <a:xfrm>
            <a:off x="4761979" y="4865712"/>
            <a:ext cx="381915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Return up to N completions sorted alphabetically. Time complexity: O(k + m), where k = prefix length, m = output size.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1114"/>
            <a:ext cx="255307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Results &amp; System Output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1470" y="581471"/>
            <a:ext cx="3674418" cy="1797546"/>
          </a:xfrm>
          <a:prstGeom prst="roundRect">
            <a:avLst>
              <a:gd name="adj" fmla="val 2484"/>
            </a:avLst>
          </a:prstGeom>
          <a:solidFill>
            <a:srgbClr val="224435"/>
          </a:solidFill>
          <a:ln/>
        </p:spPr>
      </p:sp>
      <p:sp>
        <p:nvSpPr>
          <p:cNvPr id="4" name="Text 2"/>
          <p:cNvSpPr/>
          <p:nvPr/>
        </p:nvSpPr>
        <p:spPr>
          <a:xfrm>
            <a:off x="513457" y="612428"/>
            <a:ext cx="123319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Sample Execution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513457" y="740271"/>
            <a:ext cx="3550444" cy="186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Input Prefix: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</a:t>
            </a:r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450" dirty="0">
                <a:solidFill>
                  <a:srgbClr val="FFFFFF"/>
                </a:solidFill>
                <a:highlight>
                  <a:srgbClr val="2F51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Output Suggestions:</a:t>
            </a:r>
            <a:endParaRPr lang="en-US" sz="450" dirty="0"/>
          </a:p>
        </p:txBody>
      </p:sp>
      <p:sp>
        <p:nvSpPr>
          <p:cNvPr id="6" name="Text 4"/>
          <p:cNvSpPr/>
          <p:nvPr/>
        </p:nvSpPr>
        <p:spPr>
          <a:xfrm>
            <a:off x="513457" y="954286"/>
            <a:ext cx="3550444" cy="414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app</a:t>
            </a:r>
            <a:endParaRPr lang="en-US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apple</a:t>
            </a:r>
            <a:endParaRPr lang="en-US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application</a:t>
            </a:r>
            <a:endParaRPr lang="en-US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apply</a:t>
            </a:r>
            <a:endParaRPr lang="en-US" sz="450" dirty="0"/>
          </a:p>
          <a:p>
            <a:pPr algn="l" marL="91440" indent="-91440">
              <a:lnSpc>
                <a:spcPct val="100000"/>
              </a:lnSpc>
              <a:buSzPct val="100000"/>
              <a:buChar char="•"/>
            </a:pPr>
            <a:r>
              <a:rPr lang="en-US" sz="4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appointment</a:t>
            </a:r>
            <a:endParaRPr lang="en-US" sz="450" dirty="0"/>
          </a:p>
        </p:txBody>
      </p:sp>
      <p:sp>
        <p:nvSpPr>
          <p:cNvPr id="7" name="Text 5"/>
          <p:cNvSpPr/>
          <p:nvPr/>
        </p:nvSpPr>
        <p:spPr>
          <a:xfrm>
            <a:off x="513457" y="1397050"/>
            <a:ext cx="4007644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All suggestions are returned in under </a:t>
            </a:r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Overpass Bold" pitchFamily="34" charset="0"/>
                <a:ea typeface="Overpass Bold" pitchFamily="34" charset="-122"/>
                <a:cs typeface="Overpass Bold" pitchFamily="34" charset="-120"/>
              </a:rPr>
              <a:t>1 millisecond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 for a dictionary of 10,000+ words.</a:t>
            </a:r>
            <a:endParaRPr lang="en-US" sz="450" dirty="0"/>
          </a:p>
        </p:txBody>
      </p:sp>
      <p:sp>
        <p:nvSpPr>
          <p:cNvPr id="8" name="Text 6"/>
          <p:cNvSpPr/>
          <p:nvPr/>
        </p:nvSpPr>
        <p:spPr>
          <a:xfrm>
            <a:off x="4237211" y="612428"/>
            <a:ext cx="136081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Performance Metrics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4237211" y="775097"/>
            <a:ext cx="4415358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O(k)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8552" y="1033983"/>
            <a:ext cx="812602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Search Complexity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4237211" y="1161827"/>
            <a:ext cx="441535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Prefix lookup time depends only on prefix length, not dictionary size.</a:t>
            </a:r>
            <a:endParaRPr lang="en-US" sz="450" dirty="0"/>
          </a:p>
        </p:txBody>
      </p:sp>
      <p:sp>
        <p:nvSpPr>
          <p:cNvPr id="12" name="Text 10"/>
          <p:cNvSpPr/>
          <p:nvPr/>
        </p:nvSpPr>
        <p:spPr>
          <a:xfrm>
            <a:off x="4237211" y="1329110"/>
            <a:ext cx="4415358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~1ms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21288" y="1587996"/>
            <a:ext cx="847130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Avg. Response Time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237211" y="1715839"/>
            <a:ext cx="441535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Measured across 10,000-word dictionary on standard hardware.</a:t>
            </a:r>
            <a:endParaRPr lang="en-US" sz="450" dirty="0"/>
          </a:p>
        </p:txBody>
      </p:sp>
      <p:sp>
        <p:nvSpPr>
          <p:cNvPr id="15" name="Text 13"/>
          <p:cNvSpPr/>
          <p:nvPr/>
        </p:nvSpPr>
        <p:spPr>
          <a:xfrm>
            <a:off x="4237211" y="1883122"/>
            <a:ext cx="4415358" cy="20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10K+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57230" y="2142009"/>
            <a:ext cx="7752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Word Capacity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237211" y="2269852"/>
            <a:ext cx="4415358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System tested with a comprehensive English word corpus.</a:t>
            </a:r>
            <a:endParaRPr lang="en-US" sz="450" dirty="0"/>
          </a:p>
        </p:txBody>
      </p:sp>
      <p:sp>
        <p:nvSpPr>
          <p:cNvPr id="18" name="Text 16"/>
          <p:cNvSpPr/>
          <p:nvPr/>
        </p:nvSpPr>
        <p:spPr>
          <a:xfrm>
            <a:off x="496119" y="2425526"/>
            <a:ext cx="12324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System Workflow</a:t>
            </a:r>
            <a:endParaRPr lang="en-US" sz="6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568922"/>
            <a:ext cx="7315200" cy="4114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96119" y="6718548"/>
            <a:ext cx="860896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workflow above demonstrates how each keystroke triggers an efficient Trie traversal, collects all matching completions via depth-first search, and presents ranked suggestions to the user in real time.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0421"/>
            <a:ext cx="503068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33939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505992"/>
            <a:ext cx="2634555" cy="1721272"/>
          </a:xfrm>
          <a:prstGeom prst="roundRect">
            <a:avLst>
              <a:gd name="adj" fmla="val 3027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4855" y="1634728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Achieved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24855" y="1907753"/>
            <a:ext cx="237708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The Trie-based auto-suggestion system successfully delivers fast, accurate, and scalable word completions. It outperforms traditional linear search methods and provides a seamless real-time user experience.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54648" y="1505992"/>
            <a:ext cx="2634630" cy="1721272"/>
          </a:xfrm>
          <a:prstGeom prst="roundRect">
            <a:avLst>
              <a:gd name="adj" fmla="val 3027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384" y="1634728"/>
            <a:ext cx="2303934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Real-World Applications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384" y="1907753"/>
            <a:ext cx="237715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This architecture directly mirrors systems used in Google Search, mobile keyboard apps (Gboard, SwiftKey), e-commerce product search (Amazon, Flipkart), and code IDE auto-completion tools.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13252" y="1505992"/>
            <a:ext cx="2634555" cy="1721272"/>
          </a:xfrm>
          <a:prstGeom prst="roundRect">
            <a:avLst>
              <a:gd name="adj" fmla="val 3027"/>
            </a:avLst>
          </a:prstGeom>
          <a:solidFill>
            <a:srgbClr val="DDEEE6"/>
          </a:solidFill>
          <a:ln w="4763">
            <a:solidFill>
              <a:srgbClr val="C3D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41988" y="1634728"/>
            <a:ext cx="213404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🔭</a:t>
            </a:r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 Future Enhancements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41988" y="1907753"/>
            <a:ext cx="23770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Planned extensions include fuzzy search for spell correction, AI-powered ranking based on user history, multi-language support, and voice-input integration for accessibility.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3366790"/>
            <a:ext cx="248022" cy="24802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9145" y="3409429"/>
            <a:ext cx="16057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Speed &amp; Efficiency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99145" y="3677692"/>
            <a:ext cx="221084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Trie reduces search complexity from O(n) to O(k), making it ideal for high-frequency, low-latency applications.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3366790"/>
            <a:ext cx="248022" cy="24802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68018" y="3409429"/>
            <a:ext cx="16086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Scalable by Design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668018" y="3677692"/>
            <a:ext cx="221091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Adding new words requires only O(k) insertion — no re-indexing or full dataset scans needed.</a:t>
            </a:r>
            <a:endParaRPr lang="en-US" sz="9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3939" y="3366790"/>
            <a:ext cx="248022" cy="24802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36965" y="3409429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B4E4E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Enhanced UX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36965" y="3677692"/>
            <a:ext cx="2210916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3B4E4E"/>
                </a:solidFill>
                <a:latin typeface="Overpass Light" pitchFamily="34" charset="0"/>
                <a:ea typeface="Overpass Light" pitchFamily="34" charset="-122"/>
                <a:cs typeface="Overpass Light" pitchFamily="34" charset="-120"/>
              </a:rPr>
              <a:t>Instant suggestions reduce typing effort, minimise errors, and significantly improve overall search experience.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2026-06-24T12:02:50Z</dcterms:created>
  <dcterms:modified xsi:type="dcterms:W3CDTF">2026-06-24T12:02:50Z</dcterms:modified>
</cp:coreProperties>
</file>